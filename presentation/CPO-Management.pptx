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5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 PER ORDER
</a:t>
            </a:r>
            <a:pPr indent="0" marL="0">
              <a:buNone/>
            </a:pPr>
            <a:r>
              <a:rPr lang="en-US" sz="4600" b="1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MANAGEMENT OVERVIEW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365760" y="36576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talabat Local Shops Operations (UAE)  |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2336" y="109728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01. System Overview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CPO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CPO Formula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Loaded CPO Breakdown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Roles &amp; Access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46120" y="109728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02. Data &amp; Dashboard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Sources &amp; Architecture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 Selection &amp; Filters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Store-Level CPO Table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 Cards &amp; Metrics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89904" y="1097280"/>
            <a:ext cx="2606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03. Config &amp; Reports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Rate Management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Cost Config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Email Reports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Benefits by Stakeholder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5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OVERVIEW &amp;
</a:t>
            </a:r>
            <a:pPr indent="0" marL="0">
              <a:buNone/>
            </a:pPr>
            <a:r>
              <a:rPr lang="en-US" sz="4400" b="1" dirty="0">
                <a:solidFill>
                  <a:srgbClr val="CFFF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STRATEGIC OBJECTIVES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is Cost Per Order?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2336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CPO measures the cost of fulfilling each order at a store level. It divides the total picker cost (based on 3PL vendor rates and attendance days) by the number of successful orders. This gives operations a per-order cost metric to benchmark stores, vendors, and cities.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2336" y="182880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82880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96596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Store-Level Visibility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CPO calculated per store — compare performance across locations, chains, and cities instantly.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182880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82880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10" name="Text 8"/>
          <p:cNvSpPr/>
          <p:nvPr/>
        </p:nvSpPr>
        <p:spPr>
          <a:xfrm>
            <a:off x="2624328" y="196596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Benchmarking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vendor rates tracked with effective dating. Compare cost efficiency across KRH, Transguard, and more.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26864" y="182880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182880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96596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Loaded CPO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Adds Champion (AED 6,400) and Supervisor (AED 8,500) cost allocation per store for true total cost.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39128" y="182880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39128" y="182880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48856" y="196596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Automation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pulled from 3 Google Sheets. Weekly and monthly reports sent automatically. Zero manual calculation.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CPO Formula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9184" y="685800"/>
            <a:ext cx="8604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cost per order is calculated at the store level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4115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FF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Picker Cost</a:t>
            </a:r>
            <a:pPr algn="ctr" indent="0" marL="0">
              <a:buNone/>
            </a:pPr>
            <a:r>
              <a:rPr lang="en-US" sz="2200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÷  </a:t>
            </a:r>
            <a:pPr algn="ctr" indent="0" marL="0">
              <a:buNone/>
            </a:pPr>
            <a:r>
              <a:rPr lang="en-US" sz="2200" b="1" dirty="0">
                <a:solidFill>
                  <a:srgbClr val="CFFF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Successful Orders</a:t>
            </a:r>
            <a:pPr algn="ctr" indent="0" marL="0">
              <a:buNone/>
            </a:pPr>
            <a:r>
              <a:rPr lang="en-US" sz="2200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=  </a:t>
            </a:r>
            <a:pPr algn="ctr" indent="0" marL="0">
              <a:buNone/>
            </a:pPr>
            <a:r>
              <a:rPr lang="en-US" sz="26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02336" y="24688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2468880"/>
            <a:ext cx="260604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517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Picker Cost
</a:t>
            </a:r>
            <a:pPr indent="0" marL="0">
              <a:buNone/>
            </a:pPr>
            <a:r>
              <a:rPr lang="en-US" sz="10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Rate ÷ Working Days
× Attendance Days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2,750 ÷ 27 days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× 24 days = AED 2,444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24688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468880"/>
            <a:ext cx="2606040" cy="73152"/>
          </a:xfrm>
          <a:prstGeom prst="roundRect">
            <a:avLst/>
          </a:prstGeom>
          <a:solidFill>
            <a:srgbClr val="2D5B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26517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Successful Orders
</a:t>
            </a:r>
            <a:pPr indent="0" marL="0">
              <a:buNone/>
            </a:pPr>
            <a:r>
              <a:rPr lang="en-US" sz="10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orders from
Order Sheet per store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 ABC-01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 387 orders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9904" y="24688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9904" y="2468880"/>
            <a:ext cx="2606040" cy="73152"/>
          </a:xfrm>
          <a:prstGeom prst="roundRect">
            <a:avLst/>
          </a:prstGeom>
          <a:solidFill>
            <a:srgbClr val="1A7F4B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26517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CPO Result
</a:t>
            </a:r>
            <a:pPr indent="0" marL="0">
              <a:buNone/>
            </a:pPr>
            <a:r>
              <a:rPr lang="en-US" sz="10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Picker Cost ÷ Orders
= Per-order cost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2,444 ÷ 387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 AED 6.31 per order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Loaded CPO Breakdown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9184" y="685800"/>
            <a:ext cx="8604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True cost per order including Champion and Supervisor allocation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" y="1097280"/>
            <a:ext cx="8339328" cy="731520"/>
          </a:xfrm>
          <a:prstGeom prst="roundRect">
            <a:avLst>
              <a:gd name="adj" fmla="val 10000"/>
            </a:avLst>
          </a:prstGeom>
          <a:solidFill>
            <a:srgbClr val="411517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097280"/>
            <a:ext cx="8339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FF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Picker CPO</a:t>
            </a:r>
            <a:pPr algn="ctr" indent="0" marL="0">
              <a:buNone/>
            </a:pPr>
            <a:r>
              <a:rPr lang="en-US" sz="1600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+  </a:t>
            </a:r>
            <a:pPr algn="ctr" indent="0" marL="0">
              <a:buNone/>
            </a:pPr>
            <a:r>
              <a:rPr lang="en-US" sz="1600" b="1" dirty="0">
                <a:solidFill>
                  <a:srgbClr val="CFFF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Champion Cost ÷ Orders</a:t>
            </a:r>
            <a:pPr algn="ctr" indent="0" marL="0">
              <a:buNone/>
            </a:pPr>
            <a:r>
              <a:rPr lang="en-US" sz="1600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+  </a:t>
            </a:r>
            <a:pPr algn="ctr" indent="0" marL="0">
              <a:buNone/>
            </a:pPr>
            <a:r>
              <a:rPr lang="en-US" sz="1600" b="1" dirty="0">
                <a:solidFill>
                  <a:srgbClr val="CFFF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Supervisor Cost ÷ Orders</a:t>
            </a:r>
            <a:pPr algn="ctr" indent="0" marL="0">
              <a:buNone/>
            </a:pPr>
            <a:r>
              <a:rPr lang="en-US" sz="1600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=  </a:t>
            </a:r>
            <a:pPr algn="ctr" indent="0" marL="0">
              <a:buNone/>
            </a:pPr>
            <a:r>
              <a:rPr lang="en-US" sz="18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Loaded CPO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" y="21031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210312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286000"/>
            <a:ext cx="868680" cy="86868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22860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32461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Picker CPO
</a:t>
            </a:r>
            <a:pPr algn="ctr" indent="0" marL="0">
              <a:buNone/>
            </a:pPr>
            <a:r>
              <a:rPr lang="en-US" sz="16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7.20
</a:t>
            </a:r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3PL vendor rate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÷ working days × attendance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÷ successful orders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21031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2103120"/>
            <a:ext cx="1965960" cy="73152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3063240" y="228600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22860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32461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Champion
</a:t>
            </a:r>
            <a:pPr algn="ctr" indent="0" marL="0">
              <a:buNone/>
            </a:pPr>
            <a:r>
              <a:rPr lang="en-US" sz="16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 AED 1.40
</a:t>
            </a:r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6,400/month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÷ working days × attendance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÷ store orders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21031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2103120"/>
            <a:ext cx="1965960" cy="73152"/>
          </a:xfrm>
          <a:prstGeom prst="roundRect">
            <a:avLst/>
          </a:prstGeom>
          <a:solidFill>
            <a:srgbClr val="2D5B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175504" y="2286000"/>
            <a:ext cx="868680" cy="868680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20" name="Text 18"/>
          <p:cNvSpPr/>
          <p:nvPr/>
        </p:nvSpPr>
        <p:spPr>
          <a:xfrm>
            <a:off x="5175504" y="22860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32461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Supervisor
</a:t>
            </a:r>
            <a:pPr algn="ctr" indent="0" marL="0">
              <a:buNone/>
            </a:pPr>
            <a:r>
              <a:rPr lang="en-US" sz="16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 AED 0.85
</a:t>
            </a:r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8,500/month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÷ working days × store count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÷ store orders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39128" y="210312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39128" y="2103120"/>
            <a:ext cx="1965960" cy="73152"/>
          </a:xfrm>
          <a:prstGeom prst="roundRect">
            <a:avLst/>
          </a:prstGeom>
          <a:solidFill>
            <a:srgbClr val="1A7F4B"/>
          </a:solidFill>
          <a:ln/>
        </p:spPr>
      </p:sp>
      <p:sp>
        <p:nvSpPr>
          <p:cNvPr id="24" name="Shape 22"/>
          <p:cNvSpPr/>
          <p:nvPr/>
        </p:nvSpPr>
        <p:spPr>
          <a:xfrm>
            <a:off x="7287768" y="2286000"/>
            <a:ext cx="868680" cy="868680"/>
          </a:xfrm>
          <a:prstGeom prst="ellipse">
            <a:avLst/>
          </a:prstGeom>
          <a:solidFill>
            <a:srgbClr val="1A7F4B"/>
          </a:solidFill>
          <a:ln/>
        </p:spPr>
      </p:sp>
      <p:sp>
        <p:nvSpPr>
          <p:cNvPr id="25" name="Text 23"/>
          <p:cNvSpPr/>
          <p:nvPr/>
        </p:nvSpPr>
        <p:spPr>
          <a:xfrm>
            <a:off x="7287768" y="22860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48856" y="32461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Loaded CPO
</a:t>
            </a:r>
            <a:pPr algn="ctr" indent="0" marL="0">
              <a:buNone/>
            </a:pPr>
            <a:r>
              <a:rPr lang="en-US" sz="16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=  AED 9.45
</a:t>
            </a:r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cost per order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including management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overhead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Roles &amp; Access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2336" y="1005840"/>
            <a:ext cx="1965960" cy="37490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1143000"/>
            <a:ext cx="777240" cy="77724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12064" y="2057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 ADMIN
</a:t>
            </a:r>
            <a:pPr indent="0" marL="0">
              <a:buNone/>
            </a:pPr>
            <a:r>
              <a:rPr lang="en-US" sz="9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access to dashboard and all settings. Can manage vendor rates, employee costs, working days, email config, and access control. Sees all data unfiltered.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1965960" cy="37490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1143000"/>
            <a:ext cx="777240" cy="777240"/>
          </a:xfrm>
          <a:prstGeom prst="ellipse">
            <a:avLst/>
          </a:prstGeom>
          <a:solidFill>
            <a:srgbClr val="411517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24328" y="2057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
</a:t>
            </a:r>
            <a:pPr indent="0" marL="0">
              <a:buNone/>
            </a:pPr>
            <a:r>
              <a:rPr lang="en-US" sz="9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dashboard access with all filters. Can view settings and configuration but cannot modify access control. All data visible.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1965960" cy="37490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21224" y="1143000"/>
            <a:ext cx="777240" cy="777240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14" name="Text 12"/>
          <p:cNvSpPr/>
          <p:nvPr/>
        </p:nvSpPr>
        <p:spPr>
          <a:xfrm>
            <a:off x="5221224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36592" y="2057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MANAGER
</a:t>
            </a:r>
            <a:pPr indent="0" marL="0">
              <a:buNone/>
            </a:pPr>
            <a:r>
              <a:rPr lang="en-US" sz="9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access with all stores visible. Can view data and export reports. No access to settings or configuration panel.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39128" y="1005840"/>
            <a:ext cx="1965960" cy="37490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33488" y="1143000"/>
            <a:ext cx="777240" cy="777240"/>
          </a:xfrm>
          <a:prstGeom prst="ellipse">
            <a:avLst/>
          </a:prstGeom>
          <a:solidFill>
            <a:srgbClr val="1A7F4B"/>
          </a:solidFill>
          <a:ln/>
        </p:spPr>
      </p:sp>
      <p:sp>
        <p:nvSpPr>
          <p:cNvPr id="18" name="Text 16"/>
          <p:cNvSpPr/>
          <p:nvPr/>
        </p:nvSpPr>
        <p:spPr>
          <a:xfrm>
            <a:off x="7333488" y="1143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48856" y="20574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SUPERVISOR
</a:t>
            </a:r>
            <a:pPr indent="0" marL="0">
              <a:buNone/>
            </a:pPr>
            <a:r>
              <a:rPr lang="en-US" sz="9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filtered to assigned stores only. Sees CPO data for their supervised locations. No settings access.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5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ARCHITECTURE &amp;
</a:t>
            </a:r>
            <a:pPr indent="0" marL="0">
              <a:buNone/>
            </a:pPr>
            <a:r>
              <a:rPr lang="en-US" sz="4400" b="1" dirty="0">
                <a:solidFill>
                  <a:srgbClr val="CFFF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FEATURES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Sources &amp;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9184" y="685800"/>
            <a:ext cx="8604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Google Sheets feed into the CPO calculation engine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" y="10972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097280"/>
            <a:ext cx="260604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7" name="Shape 5"/>
          <p:cNvSpPr/>
          <p:nvPr/>
        </p:nvSpPr>
        <p:spPr>
          <a:xfrm>
            <a:off x="1271016" y="1325880"/>
            <a:ext cx="868680" cy="86868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8" name="Text 6"/>
          <p:cNvSpPr/>
          <p:nvPr/>
        </p:nvSpPr>
        <p:spPr>
          <a:xfrm>
            <a:off x="1271016" y="13258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23317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Data Sheet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Tabs: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MTD Order · Weekly Order · Monthly Order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 codes, chain, city, successful orders count per period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97280"/>
            <a:ext cx="2606040" cy="73152"/>
          </a:xfrm>
          <a:prstGeom prst="roundRect">
            <a:avLst/>
          </a:prstGeom>
          <a:solidFill>
            <a:srgbClr val="2D5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325880"/>
            <a:ext cx="868680" cy="868680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13258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10712" y="23317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Attendance Sheet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Tabs: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MTD Know · Weekly Know · Monthly Know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Picker name, vendor/3PL, store, supervisor, attendance days per period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9904" y="10972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9904" y="1097280"/>
            <a:ext cx="2606040" cy="73152"/>
          </a:xfrm>
          <a:prstGeom prst="roundRect">
            <a:avLst/>
          </a:prstGeom>
          <a:solidFill>
            <a:srgbClr val="1A7F4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58584" y="1325880"/>
            <a:ext cx="868680" cy="868680"/>
          </a:xfrm>
          <a:prstGeom prst="ellipse">
            <a:avLst/>
          </a:prstGeom>
          <a:solidFill>
            <a:srgbClr val="1A7F4B"/>
          </a:solidFill>
          <a:ln/>
        </p:spPr>
      </p:sp>
      <p:sp>
        <p:nvSpPr>
          <p:cNvPr id="18" name="Text 16"/>
          <p:cNvSpPr/>
          <p:nvPr/>
        </p:nvSpPr>
        <p:spPr>
          <a:xfrm>
            <a:off x="6958584" y="13258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54496" y="23317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Master Data Sheet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Tabs: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 mapping &amp; reference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Data: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Store-to-chain mapping, city assignments, supervisor assignments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CPO is Calculated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9184" y="685800"/>
            <a:ext cx="8604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data flow from raw sheets to per-store CPO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777240" cy="77724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
Attendance
</a:t>
            </a:r>
            <a:pPr algn="ctr" indent="0" marL="0">
              <a:buNone/>
            </a:pPr>
            <a:r>
              <a:rPr lang="en-US" sz="9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Pull picker attendance data from Know sheets for selected period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1887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77440" y="1097280"/>
            <a:ext cx="777240" cy="777240"/>
          </a:xfrm>
          <a:prstGeom prst="ellipse">
            <a:avLst/>
          </a:prstGeom>
          <a:solidFill>
            <a:srgbClr val="411517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097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03120" y="205740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
Vendor Rate
</a:t>
            </a:r>
            <a:pPr algn="ctr" indent="0" marL="0">
              <a:buNone/>
            </a:pPr>
            <a:r>
              <a:rPr lang="en-US" sz="9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 up effective vendor rate for each picker's 3PL company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1887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160520" y="1097280"/>
            <a:ext cx="777240" cy="777240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097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886200" y="205740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Calc Picker
Cost
</a:t>
            </a:r>
            <a:pPr algn="ctr" indent="0" marL="0">
              <a:buNone/>
            </a:pPr>
            <a:r>
              <a:rPr lang="en-US" sz="9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÷ working days × attendance days = picker cost per store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11887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943600" y="109728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1097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69280" y="205740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
Orders
</a:t>
            </a:r>
            <a:pPr algn="ctr" indent="0" marL="0">
              <a:buNone/>
            </a:pPr>
            <a:r>
              <a:rPr lang="en-US" sz="9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Pull successful order count per store from Order sheets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118872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726680" y="1097280"/>
            <a:ext cx="777240" cy="777240"/>
          </a:xfrm>
          <a:prstGeom prst="ellipse">
            <a:avLst/>
          </a:prstGeom>
          <a:solidFill>
            <a:srgbClr val="1A7F4B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1097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52360" y="205740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Divide
= CPO
</a:t>
            </a:r>
            <a:pPr algn="ctr" indent="0" marL="0">
              <a:buNone/>
            </a:pPr>
            <a:r>
              <a:rPr lang="en-US" sz="9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picker cost ÷ successful orders = store-level CPO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" y="4709160"/>
            <a:ext cx="8485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calculations happen server-side in Google Apps Script — the dashboard displays pre-computed results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 Selection &amp; Filters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9184" y="685800"/>
            <a:ext cx="8604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Multiple time views and granular filters for drilling down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" y="10972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09728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280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MTD
</a:t>
            </a:r>
            <a:pPr indent="0" marL="0">
              <a:buNone/>
            </a:pPr>
            <a:r>
              <a:rPr lang="en-US" sz="9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Month-to-date — live cumulative data from Day 1 to today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097280"/>
            <a:ext cx="1965960" cy="73152"/>
          </a:xfrm>
          <a:prstGeom prst="roundRect">
            <a:avLst/>
          </a:prstGeom>
          <a:solidFill>
            <a:srgbClr val="2D5BFF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280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Daily
</a:t>
            </a:r>
            <a:pPr indent="0" marL="0">
              <a:buNone/>
            </a:pPr>
            <a:r>
              <a:rPr lang="en-US" sz="9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any specific day to see that day's CPO snapshot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26864" y="10972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1097280"/>
            <a:ext cx="1965960" cy="73152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764024" y="1280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
</a:t>
            </a:r>
            <a:pPr indent="0" marL="0">
              <a:buNone/>
            </a:pPr>
            <a:r>
              <a:rPr lang="en-US" sz="9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a week range to compare weekly CPO performance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39128" y="10972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39128" y="1097280"/>
            <a:ext cx="1965960" cy="73152"/>
          </a:xfrm>
          <a:prstGeom prst="roundRect">
            <a:avLst/>
          </a:prstGeom>
          <a:solidFill>
            <a:srgbClr val="1A7F4B"/>
          </a:solidFill>
          <a:ln/>
        </p:spPr>
      </p:sp>
      <p:sp>
        <p:nvSpPr>
          <p:cNvPr id="16" name="Text 14"/>
          <p:cNvSpPr/>
          <p:nvPr/>
        </p:nvSpPr>
        <p:spPr>
          <a:xfrm>
            <a:off x="6876288" y="1280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Monthly
</a:t>
            </a:r>
            <a:pPr indent="0" marL="0">
              <a:buNone/>
            </a:pPr>
            <a:r>
              <a:rPr lang="en-US" sz="9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month view — final CPO figures for completed months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2336" y="278892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FF5A00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27889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278892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 by store chain (brand)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" y="322783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2D5BFF"/>
          </a:solidFill>
          <a:ln/>
        </p:spPr>
      </p:sp>
      <p:sp>
        <p:nvSpPr>
          <p:cNvPr id="21" name="Text 19"/>
          <p:cNvSpPr/>
          <p:nvPr/>
        </p:nvSpPr>
        <p:spPr>
          <a:xfrm>
            <a:off x="402336" y="32278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322783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 by emirate/city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2336" y="3666744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411517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366674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4520" y="3666744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 by supervisor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" y="4105656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" y="41056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3PL Vendor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4105656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 by vendor company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" y="4544568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1A7F4B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" y="45445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74520" y="4544568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Picker / Picker+Scanner / All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KPI Cards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9184" y="685800"/>
            <a:ext cx="8604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key metrics displayed at the top of the 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" y="10972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D6C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097280"/>
            <a:ext cx="73152" cy="1554480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1887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AVG CPO
</a:t>
            </a:r>
            <a:pPr indent="0" marL="0">
              <a:buNone/>
            </a:pPr>
            <a:r>
              <a:rPr lang="en-US" sz="2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7.84
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Average cost per order across all filtered stores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D6C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97280"/>
            <a:ext cx="73152" cy="1554480"/>
          </a:xfrm>
          <a:prstGeom prst="roundRect">
            <a:avLst/>
          </a:prstGeom>
          <a:solidFill>
            <a:srgbClr val="2D5BFF"/>
          </a:solidFill>
          <a:ln/>
        </p:spPr>
      </p:sp>
      <p:sp>
        <p:nvSpPr>
          <p:cNvPr id="10" name="Text 8"/>
          <p:cNvSpPr/>
          <p:nvPr/>
        </p:nvSpPr>
        <p:spPr>
          <a:xfrm>
            <a:off x="2679192" y="11887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ORDERS
</a:t>
            </a:r>
            <a:pPr indent="0" marL="0">
              <a:buNone/>
            </a:pPr>
            <a:r>
              <a:rPr lang="en-US" sz="2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12,847
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Successful orders in the selected period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10972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D6C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1097280"/>
            <a:ext cx="73152" cy="1554480"/>
          </a:xfrm>
          <a:prstGeom prst="roundRect">
            <a:avLst/>
          </a:prstGeom>
          <a:solidFill>
            <a:srgbClr val="1A7F4B"/>
          </a:solidFill>
          <a:ln/>
        </p:spPr>
      </p:sp>
      <p:sp>
        <p:nvSpPr>
          <p:cNvPr id="13" name="Text 11"/>
          <p:cNvSpPr/>
          <p:nvPr/>
        </p:nvSpPr>
        <p:spPr>
          <a:xfrm>
            <a:off x="4791456" y="11887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COST
</a:t>
            </a:r>
            <a:pPr indent="0" marL="0">
              <a:buNone/>
            </a:pPr>
            <a:r>
              <a:rPr lang="en-US" sz="2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100,721
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 of all picker costs for the period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39128" y="10972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0D6C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39128" y="1097280"/>
            <a:ext cx="73152" cy="1554480"/>
          </a:xfrm>
          <a:prstGeom prst="roundRect">
            <a:avLst/>
          </a:prstGeom>
          <a:solidFill>
            <a:srgbClr val="C4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1887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STORES
</a:t>
            </a:r>
            <a:pPr indent="0" marL="0">
              <a:buNone/>
            </a:pPr>
            <a:r>
              <a:rPr lang="en-US" sz="2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42
</a:t>
            </a:r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Active stores with both orders and attendance 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" y="2926080"/>
            <a:ext cx="83393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E0D6C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2336" y="2926080"/>
            <a:ext cx="1280160" cy="320040"/>
          </a:xfrm>
          <a:prstGeom prst="rect">
            <a:avLst/>
          </a:prstGeom>
          <a:solidFill>
            <a:srgbClr val="411517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" y="2926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82496" y="2926080"/>
            <a:ext cx="914400" cy="320040"/>
          </a:xfrm>
          <a:prstGeom prst="rect">
            <a:avLst/>
          </a:prstGeom>
          <a:solidFill>
            <a:srgbClr val="411517"/>
          </a:solidFill>
          <a:ln/>
        </p:spPr>
      </p:sp>
      <p:sp>
        <p:nvSpPr>
          <p:cNvPr id="21" name="Text 19"/>
          <p:cNvSpPr/>
          <p:nvPr/>
        </p:nvSpPr>
        <p:spPr>
          <a:xfrm>
            <a:off x="1682496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96896" y="2926080"/>
            <a:ext cx="822960" cy="320040"/>
          </a:xfrm>
          <a:prstGeom prst="rect">
            <a:avLst/>
          </a:prstGeom>
          <a:solidFill>
            <a:srgbClr val="411517"/>
          </a:solidFill>
          <a:ln/>
        </p:spPr>
      </p:sp>
      <p:sp>
        <p:nvSpPr>
          <p:cNvPr id="23" name="Text 21"/>
          <p:cNvSpPr/>
          <p:nvPr/>
        </p:nvSpPr>
        <p:spPr>
          <a:xfrm>
            <a:off x="2596896" y="29260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19856" y="2926080"/>
            <a:ext cx="914400" cy="320040"/>
          </a:xfrm>
          <a:prstGeom prst="rect">
            <a:avLst/>
          </a:prstGeom>
          <a:solidFill>
            <a:srgbClr val="411517"/>
          </a:solidFill>
          <a:ln/>
        </p:spPr>
      </p:sp>
      <p:sp>
        <p:nvSpPr>
          <p:cNvPr id="25" name="Text 23"/>
          <p:cNvSpPr/>
          <p:nvPr/>
        </p:nvSpPr>
        <p:spPr>
          <a:xfrm>
            <a:off x="3419856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3PL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34256" y="2926080"/>
            <a:ext cx="731520" cy="320040"/>
          </a:xfrm>
          <a:prstGeom prst="rect">
            <a:avLst/>
          </a:prstGeom>
          <a:solidFill>
            <a:srgbClr val="411517"/>
          </a:solidFill>
          <a:ln/>
        </p:spPr>
      </p:sp>
      <p:sp>
        <p:nvSpPr>
          <p:cNvPr id="27" name="Text 25"/>
          <p:cNvSpPr/>
          <p:nvPr/>
        </p:nvSpPr>
        <p:spPr>
          <a:xfrm>
            <a:off x="4334256" y="2926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Pickers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65776" y="2926080"/>
            <a:ext cx="777240" cy="320040"/>
          </a:xfrm>
          <a:prstGeom prst="rect">
            <a:avLst/>
          </a:prstGeom>
          <a:solidFill>
            <a:srgbClr val="411517"/>
          </a:solidFill>
          <a:ln/>
        </p:spPr>
      </p:sp>
      <p:sp>
        <p:nvSpPr>
          <p:cNvPr id="29" name="Text 27"/>
          <p:cNvSpPr/>
          <p:nvPr/>
        </p:nvSpPr>
        <p:spPr>
          <a:xfrm>
            <a:off x="5065776" y="29260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43016" y="2926080"/>
            <a:ext cx="1005840" cy="320040"/>
          </a:xfrm>
          <a:prstGeom prst="rect">
            <a:avLst/>
          </a:prstGeom>
          <a:solidFill>
            <a:srgbClr val="411517"/>
          </a:solidFill>
          <a:ln/>
        </p:spPr>
      </p:sp>
      <p:sp>
        <p:nvSpPr>
          <p:cNvPr id="31" name="Text 29"/>
          <p:cNvSpPr/>
          <p:nvPr/>
        </p:nvSpPr>
        <p:spPr>
          <a:xfrm>
            <a:off x="5843016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48856" y="2926080"/>
            <a:ext cx="978408" cy="320040"/>
          </a:xfrm>
          <a:prstGeom prst="rect">
            <a:avLst/>
          </a:prstGeom>
          <a:solidFill>
            <a:srgbClr val="411517"/>
          </a:solidFill>
          <a:ln/>
        </p:spPr>
      </p:sp>
      <p:sp>
        <p:nvSpPr>
          <p:cNvPr id="33" name="Text 31"/>
          <p:cNvSpPr/>
          <p:nvPr/>
        </p:nvSpPr>
        <p:spPr>
          <a:xfrm>
            <a:off x="6848856" y="292608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2336" y="3246120"/>
            <a:ext cx="1280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02336" y="3246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ABC-DXB-01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682496" y="3246120"/>
            <a:ext cx="9144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682496" y="3246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Carrefour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96896" y="3246120"/>
            <a:ext cx="8229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596896" y="32461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Dubai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19856" y="3246120"/>
            <a:ext cx="9144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419856" y="3246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34256" y="3246120"/>
            <a:ext cx="7315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334256" y="3246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65776" y="3246120"/>
            <a:ext cx="7772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5065776" y="32461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523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843016" y="324612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843016" y="32461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16,345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48856" y="3246120"/>
            <a:ext cx="978408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848856" y="324612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6.24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02336" y="3566160"/>
            <a:ext cx="128016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51" name="Text 49"/>
          <p:cNvSpPr/>
          <p:nvPr/>
        </p:nvSpPr>
        <p:spPr>
          <a:xfrm>
            <a:off x="402336" y="3566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DEF-SHJ-03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682496" y="3566160"/>
            <a:ext cx="91440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53" name="Text 51"/>
          <p:cNvSpPr/>
          <p:nvPr/>
        </p:nvSpPr>
        <p:spPr>
          <a:xfrm>
            <a:off x="1682496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Lulu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96896" y="3566160"/>
            <a:ext cx="82296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55" name="Text 53"/>
          <p:cNvSpPr/>
          <p:nvPr/>
        </p:nvSpPr>
        <p:spPr>
          <a:xfrm>
            <a:off x="2596896" y="35661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Sharjah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419856" y="3566160"/>
            <a:ext cx="91440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57" name="Text 55"/>
          <p:cNvSpPr/>
          <p:nvPr/>
        </p:nvSpPr>
        <p:spPr>
          <a:xfrm>
            <a:off x="3419856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Transguard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334256" y="3566160"/>
            <a:ext cx="73152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59" name="Text 57"/>
          <p:cNvSpPr/>
          <p:nvPr/>
        </p:nvSpPr>
        <p:spPr>
          <a:xfrm>
            <a:off x="4334256" y="3566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065776" y="3566160"/>
            <a:ext cx="77724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61" name="Text 59"/>
          <p:cNvSpPr/>
          <p:nvPr/>
        </p:nvSpPr>
        <p:spPr>
          <a:xfrm>
            <a:off x="5065776" y="35661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287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843016" y="3566160"/>
            <a:ext cx="100584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63" name="Text 61"/>
          <p:cNvSpPr/>
          <p:nvPr/>
        </p:nvSpPr>
        <p:spPr>
          <a:xfrm>
            <a:off x="5843016" y="3566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10,078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848856" y="3566160"/>
            <a:ext cx="978408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65" name="Text 63"/>
          <p:cNvSpPr/>
          <p:nvPr/>
        </p:nvSpPr>
        <p:spPr>
          <a:xfrm>
            <a:off x="6848856" y="356616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7.02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02336" y="3886200"/>
            <a:ext cx="1280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02336" y="3886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GHI-AUH-02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682496" y="3886200"/>
            <a:ext cx="9144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1682496" y="3886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Spinneys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596896" y="3886200"/>
            <a:ext cx="8229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2596896" y="3886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Abu Dhabi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419856" y="3886200"/>
            <a:ext cx="9144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3419856" y="3886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WeSource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334256" y="3886200"/>
            <a:ext cx="7315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4334256" y="3886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065776" y="3886200"/>
            <a:ext cx="7772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5065776" y="38862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412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843016" y="388620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5843016" y="38862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13,620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848856" y="3886200"/>
            <a:ext cx="978408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6848856" y="388620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6.61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02336" y="4206240"/>
            <a:ext cx="128016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83" name="Text 81"/>
          <p:cNvSpPr/>
          <p:nvPr/>
        </p:nvSpPr>
        <p:spPr>
          <a:xfrm>
            <a:off x="402336" y="4206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JKL-DXB-05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1682496" y="4206240"/>
            <a:ext cx="91440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85" name="Text 83"/>
          <p:cNvSpPr/>
          <p:nvPr/>
        </p:nvSpPr>
        <p:spPr>
          <a:xfrm>
            <a:off x="1682496" y="4206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Union Coop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596896" y="4206240"/>
            <a:ext cx="82296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87" name="Text 85"/>
          <p:cNvSpPr/>
          <p:nvPr/>
        </p:nvSpPr>
        <p:spPr>
          <a:xfrm>
            <a:off x="2596896" y="4206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Dubai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419856" y="4206240"/>
            <a:ext cx="91440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89" name="Text 87"/>
          <p:cNvSpPr/>
          <p:nvPr/>
        </p:nvSpPr>
        <p:spPr>
          <a:xfrm>
            <a:off x="3419856" y="4206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KRH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334256" y="4206240"/>
            <a:ext cx="73152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91" name="Text 89"/>
          <p:cNvSpPr/>
          <p:nvPr/>
        </p:nvSpPr>
        <p:spPr>
          <a:xfrm>
            <a:off x="4334256" y="4206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065776" y="4206240"/>
            <a:ext cx="77724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93" name="Text 91"/>
          <p:cNvSpPr/>
          <p:nvPr/>
        </p:nvSpPr>
        <p:spPr>
          <a:xfrm>
            <a:off x="5065776" y="42062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198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843016" y="4206240"/>
            <a:ext cx="1005840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95" name="Text 93"/>
          <p:cNvSpPr/>
          <p:nvPr/>
        </p:nvSpPr>
        <p:spPr>
          <a:xfrm>
            <a:off x="5843016" y="42062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8,120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6848856" y="4206240"/>
            <a:ext cx="978408" cy="320040"/>
          </a:xfrm>
          <a:prstGeom prst="rect">
            <a:avLst/>
          </a:prstGeom>
          <a:solidFill>
            <a:srgbClr val="FAF6F1"/>
          </a:solidFill>
          <a:ln/>
        </p:spPr>
      </p:sp>
      <p:sp>
        <p:nvSpPr>
          <p:cNvPr id="97" name="Text 95"/>
          <p:cNvSpPr/>
          <p:nvPr/>
        </p:nvSpPr>
        <p:spPr>
          <a:xfrm>
            <a:off x="6848856" y="420624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1E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8.19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02336" y="4526280"/>
            <a:ext cx="1280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7"/>
          <p:cNvSpPr/>
          <p:nvPr/>
        </p:nvSpPr>
        <p:spPr>
          <a:xfrm>
            <a:off x="402336" y="4526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MNO-AJM-01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1682496" y="4526280"/>
            <a:ext cx="9144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9"/>
          <p:cNvSpPr/>
          <p:nvPr/>
        </p:nvSpPr>
        <p:spPr>
          <a:xfrm>
            <a:off x="1682496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Choithrams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596896" y="4526280"/>
            <a:ext cx="8229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101"/>
          <p:cNvSpPr/>
          <p:nvPr/>
        </p:nvSpPr>
        <p:spPr>
          <a:xfrm>
            <a:off x="2596896" y="45262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Ajman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419856" y="4526280"/>
            <a:ext cx="9144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Text 103"/>
          <p:cNvSpPr/>
          <p:nvPr/>
        </p:nvSpPr>
        <p:spPr>
          <a:xfrm>
            <a:off x="3419856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334256" y="4526280"/>
            <a:ext cx="73152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7" name="Text 105"/>
          <p:cNvSpPr/>
          <p:nvPr/>
        </p:nvSpPr>
        <p:spPr>
          <a:xfrm>
            <a:off x="4334256" y="4526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5065776" y="4526280"/>
            <a:ext cx="7772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9" name="Text 107"/>
          <p:cNvSpPr/>
          <p:nvPr/>
        </p:nvSpPr>
        <p:spPr>
          <a:xfrm>
            <a:off x="5065776" y="452628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145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5843016" y="45262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9"/>
          <p:cNvSpPr/>
          <p:nvPr/>
        </p:nvSpPr>
        <p:spPr>
          <a:xfrm>
            <a:off x="5843016" y="4526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5,490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6848856" y="4526280"/>
            <a:ext cx="978408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1"/>
          <p:cNvSpPr/>
          <p:nvPr/>
        </p:nvSpPr>
        <p:spPr>
          <a:xfrm>
            <a:off x="6848856" y="452628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1E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7.57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5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CONFIGURATION &amp;
</a:t>
            </a:r>
            <a:pPr indent="0" marL="0">
              <a:buNone/>
            </a:pPr>
            <a:r>
              <a:rPr lang="en-US" sz="4400" b="1" dirty="0">
                <a:solidFill>
                  <a:srgbClr val="CFFF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REPORTS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Rate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9184" y="685800"/>
            <a:ext cx="8604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3PL vendor monthly rates with effective date support — configurable in Settings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" y="109728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09728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2618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KRH
</a:t>
            </a:r>
            <a:pPr algn="ctr" indent="0" marL="0">
              <a:buNone/>
            </a:pPr>
            <a:r>
              <a:rPr lang="en-US" sz="12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2,750 / month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Effective: Jan 2025 → Present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09728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2618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Transguard
</a:t>
            </a:r>
            <a:pPr algn="ctr" indent="0" marL="0">
              <a:buNone/>
            </a:pPr>
            <a:r>
              <a:rPr lang="en-US" sz="12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2,574 / month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Effective: Jan 2025 → Present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26864" y="109728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109728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64024" y="12618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WeSource
</a:t>
            </a:r>
            <a:pPr algn="ctr" indent="0" marL="0">
              <a:buNone/>
            </a:pPr>
            <a:r>
              <a:rPr lang="en-US" sz="12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2,780 / month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Effective: Jan 2025 → Present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39128" y="109728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39128" y="109728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16" name="Text 14"/>
          <p:cNvSpPr/>
          <p:nvPr/>
        </p:nvSpPr>
        <p:spPr>
          <a:xfrm>
            <a:off x="6876288" y="126187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Zone
</a:t>
            </a:r>
            <a:pPr algn="ctr" indent="0" marL="0">
              <a:buNone/>
            </a:pPr>
            <a:r>
              <a:rPr lang="en-US" sz="12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2,780 / month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Effective: Jan 2025 → Present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2336" y="251460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251460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" y="267919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Trumax
</a:t>
            </a:r>
            <a:pPr algn="ctr" indent="0" marL="0">
              <a:buNone/>
            </a:pPr>
            <a:r>
              <a:rPr lang="en-US" sz="12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2,780 / month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Effective: Jan 2025 → Present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14600" y="251460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251460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267919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Sanket
</a:t>
            </a:r>
            <a:pPr algn="ctr" indent="0" marL="0">
              <a:buNone/>
            </a:pPr>
            <a:r>
              <a:rPr lang="en-US" sz="12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2,750 / month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Effective: Jan 2025 → Present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26864" y="251460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251460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64024" y="267919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MTM
</a:t>
            </a:r>
            <a:pPr algn="ctr" indent="0" marL="0">
              <a:buNone/>
            </a:pPr>
            <a:r>
              <a:rPr lang="en-US" sz="12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2,780 / month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Effective: Jan 2025 → Present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39128" y="251460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39128" y="251460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28" name="Text 26"/>
          <p:cNvSpPr/>
          <p:nvPr/>
        </p:nvSpPr>
        <p:spPr>
          <a:xfrm>
            <a:off x="6876288" y="267919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Jumbo
</a:t>
            </a:r>
            <a:pPr algn="ctr" indent="0" marL="0">
              <a:buNone/>
            </a:pPr>
            <a:r>
              <a:rPr lang="en-US" sz="12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 2,780 / month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Effective: Jan 2025 → Present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02336" y="4114800"/>
            <a:ext cx="8339328" cy="731520"/>
          </a:xfrm>
          <a:prstGeom prst="roundRect">
            <a:avLst>
              <a:gd name="adj" fmla="val 7500"/>
            </a:avLst>
          </a:prstGeom>
          <a:solidFill>
            <a:srgbClr val="F4EDE3"/>
          </a:solidFill>
          <a:ln w="6350">
            <a:solidFill>
              <a:srgbClr val="E0D6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Effective Dating  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rate has a start and optional end date. The system automatically resolves the correct rate for any calculation period. Multiple rates can exist for the same vendor — only the active one is used.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Settings &amp; Configuration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9184" y="685800"/>
            <a:ext cx="8604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configuration panels managed by Admin/Super Admin in the Settings tab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" y="10972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09728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325880"/>
            <a:ext cx="868680" cy="86868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3258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" y="22860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Rates
</a:t>
            </a:r>
            <a:pPr indent="0" marL="0">
              <a:buNone/>
            </a:pPr>
            <a:r>
              <a:rPr lang="en-US" sz="9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Add, edit, or remove 3PL vendor monthly rates. Each entry has effective start/end dates for historical accuracy.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097280"/>
            <a:ext cx="1965960" cy="73152"/>
          </a:xfrm>
          <a:prstGeom prst="roundRect">
            <a:avLst/>
          </a:prstGeom>
          <a:solidFill>
            <a:srgbClr val="411517"/>
          </a:solidFill>
          <a:ln/>
        </p:spPr>
      </p:sp>
      <p:sp>
        <p:nvSpPr>
          <p:cNvPr id="12" name="Shape 10"/>
          <p:cNvSpPr/>
          <p:nvPr/>
        </p:nvSpPr>
        <p:spPr>
          <a:xfrm>
            <a:off x="3063240" y="1325880"/>
            <a:ext cx="868680" cy="868680"/>
          </a:xfrm>
          <a:prstGeom prst="ellipse">
            <a:avLst/>
          </a:prstGeom>
          <a:solidFill>
            <a:srgbClr val="411517"/>
          </a:solidFill>
          <a:ln/>
        </p:spPr>
      </p:sp>
      <p:sp>
        <p:nvSpPr>
          <p:cNvPr id="13" name="Text 11"/>
          <p:cNvSpPr/>
          <p:nvPr/>
        </p:nvSpPr>
        <p:spPr>
          <a:xfrm>
            <a:off x="3063240" y="13258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24328" y="22860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Costs
</a:t>
            </a:r>
            <a:pPr indent="0" marL="0">
              <a:buNone/>
            </a:pPr>
            <a:r>
              <a:rPr lang="en-US" sz="9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Champion (AED 6,400) and City Supervisor (AED 8,500) monthly costs. Used for Loaded CPO calculation.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26864" y="10972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097280"/>
            <a:ext cx="1965960" cy="73152"/>
          </a:xfrm>
          <a:prstGeom prst="roundRect">
            <a:avLst/>
          </a:prstGeom>
          <a:solidFill>
            <a:srgbClr val="2D5B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175504" y="1325880"/>
            <a:ext cx="868680" cy="868680"/>
          </a:xfrm>
          <a:prstGeom prst="ellipse">
            <a:avLst/>
          </a:prstGeom>
          <a:solidFill>
            <a:srgbClr val="2D5BFF"/>
          </a:solidFill>
          <a:ln/>
        </p:spPr>
      </p:sp>
      <p:sp>
        <p:nvSpPr>
          <p:cNvPr id="18" name="Text 16"/>
          <p:cNvSpPr/>
          <p:nvPr/>
        </p:nvSpPr>
        <p:spPr>
          <a:xfrm>
            <a:off x="5175504" y="13258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36592" y="22860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Working Days
</a:t>
            </a:r>
            <a:pPr indent="0" marL="0">
              <a:buNone/>
            </a:pPr>
            <a:r>
              <a:rPr lang="en-US" sz="9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Override calendar working days per month. Default auto-calculates (27 for 31-day months, 26 for 30-day, 24 for Feb).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39128" y="109728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39128" y="1097280"/>
            <a:ext cx="1965960" cy="73152"/>
          </a:xfrm>
          <a:prstGeom prst="roundRect">
            <a:avLst/>
          </a:prstGeom>
          <a:solidFill>
            <a:srgbClr val="1A7F4B"/>
          </a:solidFill>
          <a:ln/>
        </p:spPr>
      </p:sp>
      <p:sp>
        <p:nvSpPr>
          <p:cNvPr id="22" name="Shape 20"/>
          <p:cNvSpPr/>
          <p:nvPr/>
        </p:nvSpPr>
        <p:spPr>
          <a:xfrm>
            <a:off x="7287768" y="1325880"/>
            <a:ext cx="868680" cy="868680"/>
          </a:xfrm>
          <a:prstGeom prst="ellipse">
            <a:avLst/>
          </a:prstGeom>
          <a:solidFill>
            <a:srgbClr val="1A7F4B"/>
          </a:solidFill>
          <a:ln/>
        </p:spPr>
      </p:sp>
      <p:sp>
        <p:nvSpPr>
          <p:cNvPr id="23" name="Text 21"/>
          <p:cNvSpPr/>
          <p:nvPr/>
        </p:nvSpPr>
        <p:spPr>
          <a:xfrm>
            <a:off x="7287768" y="13258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MSG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48856" y="22860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Settings
</a:t>
            </a:r>
            <a:pPr indent="0" marL="0">
              <a:buNone/>
            </a:pPr>
            <a:r>
              <a:rPr lang="en-US" sz="9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Configure weekly (Sunday) and monthly (1st) automated report emails. Enable/disable, set day, customize subject line.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2336" y="3017520"/>
            <a:ext cx="83393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" y="3017520"/>
            <a:ext cx="8339328" cy="73152"/>
          </a:xfrm>
          <a:prstGeom prst="roundRect">
            <a:avLst/>
          </a:prstGeom>
          <a:solidFill>
            <a:srgbClr val="411517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20040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 Control Panel
</a:t>
            </a:r>
            <a:pPr indent="0" marL="0">
              <a:buNone/>
            </a:pPr>
            <a:r>
              <a:rPr lang="en-US" sz="105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user access from Settings. Assign roles: </a:t>
            </a:r>
            <a:pPr indent="0" marL="0">
              <a:buNone/>
            </a:pPr>
            <a:r>
              <a:rPr lang="en-US" sz="105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 Admin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</a:t>
            </a:r>
            <a:pPr indent="0" marL="0">
              <a:buNone/>
            </a:pPr>
            <a:r>
              <a:rPr lang="en-US" sz="105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</a:t>
            </a:r>
            <a:pPr indent="0" marL="0">
              <a:buNone/>
            </a:pPr>
            <a:r>
              <a:rPr lang="en-US" sz="1050" b="1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Manager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</a:t>
            </a:r>
            <a:pPr indent="0" marL="0">
              <a:buNone/>
            </a:pPr>
            <a:r>
              <a:rPr lang="en-US" sz="105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Supervisor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</a:t>
            </a:r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Viewer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</a:t>
            </a:r>
            <a:pPr indent="0" marL="0">
              <a:buNone/>
            </a:pPr>
            <a:r>
              <a:rPr lang="en-US" sz="1050" b="1" dirty="0">
                <a:solidFill>
                  <a:srgbClr val="C41E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Revoked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user is identified by email. Super Admin can add, edit roles, or revoke access. Supervisors are automatically filtered to see only their assigned stores.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Email Reports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9184" y="685800"/>
            <a:ext cx="8604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Scheduled performance reports sent to all authorized 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2336" y="109728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097280"/>
            <a:ext cx="393192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Report
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Sunday at 8:00 AM
</a:t>
            </a:r>
            <a:pPr indent="0" marL="0">
              <a:buNone/>
            </a:pPr>
            <a:r>
              <a:rPr lang="en-US" sz="11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included: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Store-level CPO for the past week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Top &amp; bottom performing stores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Vendor cost comparison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Week-over-week trend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City/emirate breakdown
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Configurable subject line
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be enabled/disabled in Settings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09744" y="109728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1097280"/>
            <a:ext cx="3931920" cy="73152"/>
          </a:xfrm>
          <a:prstGeom prst="roundRect">
            <a:avLst/>
          </a:prstGeom>
          <a:solidFill>
            <a:srgbClr val="2D5BFF"/>
          </a:solidFill>
          <a:ln/>
        </p:spPr>
      </p:sp>
      <p:sp>
        <p:nvSpPr>
          <p:cNvPr id="10" name="Text 8"/>
          <p:cNvSpPr/>
          <p:nvPr/>
        </p:nvSpPr>
        <p:spPr>
          <a:xfrm>
            <a:off x="5001768" y="128016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Monthly Report
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1st of every month at 8:00 AM
</a:t>
            </a:r>
            <a:pPr indent="0" marL="0">
              <a:buNone/>
            </a:pPr>
            <a:r>
              <a:rPr lang="en-US" sz="11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included: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Full month CPO by store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Loaded CPO with management costs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Month-over-month comparison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Budget variance analysis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Vendor performance ranking
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Configurable subject line
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be enabled/disabled in Settings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5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MODEL &amp;
</a:t>
            </a:r>
            <a:pPr indent="0" marL="0">
              <a:buNone/>
            </a:pPr>
            <a:r>
              <a:rPr lang="en-US" sz="4400" b="1" dirty="0">
                <a:solidFill>
                  <a:srgbClr val="CFFF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STAKEHOLDER BENEFITS</a:t>
            </a:r>
            <a:endParaRPr lang="en-US" sz="4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 Control &amp; Security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2336" y="1005840"/>
            <a:ext cx="1965960" cy="3657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005840"/>
            <a:ext cx="196596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1188720"/>
            <a:ext cx="1691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1
</a:t>
            </a:r>
            <a:pPr indent="0" marL="0">
              <a:buNone/>
            </a:pPr>
            <a:r>
              <a:rPr lang="en-US" sz="16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 Admin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Email-based login
Full config access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Scope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data, all actions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users &amp; settings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rates, costs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65960" cy="3657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005840"/>
            <a:ext cx="1965960" cy="73152"/>
          </a:xfrm>
          <a:prstGeom prst="roundRect">
            <a:avLst/>
          </a:prstGeom>
          <a:solidFill>
            <a:srgbClr val="411517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188720"/>
            <a:ext cx="1691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2
</a:t>
            </a:r>
            <a:pPr indent="0" marL="0">
              <a:buNone/>
            </a:pPr>
            <a:r>
              <a:rPr lang="en-US" sz="16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Email-based login
Dashboard access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Scope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data visible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 settings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access control edit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26864" y="1005840"/>
            <a:ext cx="1965960" cy="3657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6864" y="1005840"/>
            <a:ext cx="1965960" cy="73152"/>
          </a:xfrm>
          <a:prstGeom prst="roundRect">
            <a:avLst/>
          </a:prstGeom>
          <a:solidFill>
            <a:srgbClr val="2D5B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1188720"/>
            <a:ext cx="1691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3
</a:t>
            </a:r>
            <a:pPr indent="0" marL="0">
              <a:buNone/>
            </a:pPr>
            <a:r>
              <a:rPr lang="en-US" sz="1600" b="1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Manager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Email-based login
Dashboard access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Scope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stores visible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Export &amp; view only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settings access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39128" y="1005840"/>
            <a:ext cx="1965960" cy="3657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39128" y="1005840"/>
            <a:ext cx="1965960" cy="73152"/>
          </a:xfrm>
          <a:prstGeom prst="roundRect">
            <a:avLst/>
          </a:prstGeom>
          <a:solidFill>
            <a:srgbClr val="1A7F4B"/>
          </a:solidFill>
          <a:ln/>
        </p:spPr>
      </p:sp>
      <p:sp>
        <p:nvSpPr>
          <p:cNvPr id="15" name="Text 13"/>
          <p:cNvSpPr/>
          <p:nvPr/>
        </p:nvSpPr>
        <p:spPr>
          <a:xfrm>
            <a:off x="6876288" y="1188720"/>
            <a:ext cx="1691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4
</a:t>
            </a:r>
            <a:pPr indent="0" marL="0">
              <a:buNone/>
            </a:pPr>
            <a:r>
              <a:rPr lang="en-US" sz="1600" b="1" dirty="0">
                <a:solidFill>
                  <a:srgbClr val="1A7F4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Supervisor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Email-based login
Filtered access
</a:t>
            </a:r>
            <a:pPr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Scope
</a:t>
            </a:r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Assigned stores only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city data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settings access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84048" y="0"/>
            <a:ext cx="1097280" cy="64008"/>
          </a:xfrm>
          <a:prstGeom prst="roundRect">
            <a:avLst>
              <a:gd name="adj" fmla="val 28571"/>
            </a:avLst>
          </a:prstGeom>
          <a:solidFill>
            <a:srgbClr val="FF5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9184" y="164592"/>
            <a:ext cx="8604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Benefits by Stakeholder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02336" y="10058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" y="1005840"/>
            <a:ext cx="2606040" cy="73152"/>
          </a:xfrm>
          <a:prstGeom prst="roundRect">
            <a:avLst/>
          </a:prstGeom>
          <a:solidFill>
            <a:srgbClr val="FF5A00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28016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Management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cost visibility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Store-level benchmarking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cost comparison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Loaded CPO with overheads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Budget variance tracking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weekly/monthly reports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05840"/>
            <a:ext cx="2606040" cy="73152"/>
          </a:xfrm>
          <a:prstGeom prst="roundRect">
            <a:avLst/>
          </a:prstGeom>
          <a:solidFill>
            <a:srgbClr val="2D5BFF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8016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5B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Supervisors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Own-city CPO monitoring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 performance ranking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Identify cost outliers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Period-over-period trends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Filtered dashboard view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manual calculation needed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89904" y="10058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D6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1005840"/>
            <a:ext cx="2606040" cy="73152"/>
          </a:xfrm>
          <a:prstGeom prst="roundRect">
            <a:avLst/>
          </a:prstGeom>
          <a:solidFill>
            <a:srgbClr val="411517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128016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Operations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 manual data entry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Automatic rate resolution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Configurable vendor rates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Effective date tracking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access control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in-house at $0 cost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5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1151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 Per Order — Management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3474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talabat Local Shops Operations — UAE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2026-07-15T14:24:43Z</dcterms:created>
  <dcterms:modified xsi:type="dcterms:W3CDTF">2026-07-15T14:24:43Z</dcterms:modified>
</cp:coreProperties>
</file>